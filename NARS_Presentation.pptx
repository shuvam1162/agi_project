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76612" autoAdjust="0"/>
  </p:normalViewPr>
  <p:slideViewPr>
    <p:cSldViewPr snapToGrid="0" snapToObjects="1">
      <p:cViewPr varScale="1">
        <p:scale>
          <a:sx n="150" d="100"/>
          <a:sy n="150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1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0916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789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4526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6877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7885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4620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690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82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1861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9689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875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8011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5001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600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8895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7683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1668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58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509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5763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“Cost” of Thinking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22739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Computational Resource Constraints</a:t>
            </a:r>
            <a:endParaRPr lang="en-US" sz="17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Non-Axiomatic Reasoning System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72146" y="3110624"/>
            <a:ext cx="4572000" cy="3657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1778" y="3985952"/>
            <a:ext cx="2514600" cy="658368"/>
          </a:xfrm>
          <a:prstGeom prst="rect">
            <a:avLst/>
          </a:prstGeom>
          <a:solidFill>
            <a:srgbClr val="252665"/>
          </a:solidFill>
          <a:ln w="19050">
            <a:solidFill>
              <a:srgbClr val="0077B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2739" y="4013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Arbaz Anis Ahmed Khan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9272" y="3985952"/>
            <a:ext cx="2606040" cy="658368"/>
          </a:xfrm>
          <a:prstGeom prst="rect">
            <a:avLst/>
          </a:prstGeom>
          <a:solidFill>
            <a:srgbClr val="252665"/>
          </a:solidFill>
          <a:ln w="19050">
            <a:solidFill>
              <a:srgbClr val="6C63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410712" y="4013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Shuvam Agarwal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35624" y="3985952"/>
            <a:ext cx="2396598" cy="658368"/>
          </a:xfrm>
          <a:prstGeom prst="rect">
            <a:avLst/>
          </a:prstGeom>
          <a:solidFill>
            <a:srgbClr val="252665"/>
          </a:solidFill>
          <a:ln w="1905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6122560" y="4013384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Soundarya Dash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Does Resource Budget Matter?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960120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94360"/>
            <a:ext cx="109728" cy="9601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"/>
            <a:ext cx="8183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has an explicit cycle budget and memory cap — but below what threshold does its output become unreliable?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74320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847088"/>
            <a:ext cx="548640" cy="548640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24871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floor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empirical data maps resource budget to truth-value quality in NARS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82112" y="1719072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79392" y="1847088"/>
            <a:ext cx="548640" cy="548640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9392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19272" y="24871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compute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28346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over-provision cycles because the safe minimum is unknown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1719072"/>
            <a:ext cx="27432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87184" y="1847088"/>
            <a:ext cx="548640" cy="548640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248716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7064" y="2834640"/>
            <a:ext cx="24871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cliff threshold, NARS outputs near-zero-confidence garbage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7504" y="4118280"/>
            <a:ext cx="7702725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4664" y="4154856"/>
            <a:ext cx="745689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map the relationship empirically, find N*, and classify each task’s degradation profile.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NARS — Reasoning with Bounded Resources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8458" y="539496"/>
            <a:ext cx="109728" cy="868680"/>
          </a:xfrm>
          <a:prstGeom prst="rect">
            <a:avLst/>
          </a:prstGeom>
          <a:solidFill>
            <a:srgbClr val="0070C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862" y="640080"/>
            <a:ext cx="8183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AIKR — Assumption of Insufficient Knowledge and Resources</a:t>
            </a:r>
            <a:endParaRPr lang="en-US" sz="1250" dirty="0">
              <a:solidFill>
                <a:srgbClr val="0070C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43862" y="932688"/>
            <a:ext cx="8183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realistic intelligent agent must operate under bounded time &amp; memory — intrinsic to intelligence, not a bug.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27432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373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⟨f, c⟩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" y="239572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 Truth Values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belief has frequency f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often true) and confidence c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(evidential weight). We use δ = distance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ground-truth as our quality metric.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82112" y="1600200"/>
            <a:ext cx="27432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7373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Budget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many inference steps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can take. Range tested: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50,000 cycles (8 levels).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cycles → better reasoning.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9904" y="160020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7373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Nₘ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99632" y="2395728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Capacity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2724912"/>
            <a:ext cx="252374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bag size. When full,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low-priority concepts are forgotten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(priority sampling). Range tested:</a:t>
            </a:r>
            <a:endParaRPr lang="en-US" sz="9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→ 10,000 concepts (8 levels).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68172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OpenNARS 3.1.x exposes both Nₓ and Nₘ as direct CLI parameters — ideal for controlled resource study.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822960"/>
            <a:ext cx="59436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2296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82296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Truth-Value Decay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" y="1108819"/>
            <a:ext cx="3767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frequency f and confidence c change as Nₓ is progressively reduced?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658368"/>
            <a:ext cx="41148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2312" y="822960"/>
            <a:ext cx="59436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82296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82296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Memory-Induced Degradation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143000"/>
            <a:ext cx="3767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restricting Nₘ produce qualitatively similar or distinct degradation patterns?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944368"/>
            <a:ext cx="59436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443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2944368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Budget N*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" y="3095462"/>
            <a:ext cx="3767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resource allocation at which c ≥ τ = 0.5 (non-trivial belief revision)?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779776"/>
            <a:ext cx="41148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2944368"/>
            <a:ext cx="594360" cy="31089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94436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944368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Behaviour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191256"/>
            <a:ext cx="37673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NARS show monotonically improving quality with resources — or cliff-edge collapse?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— What We Ran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4917" y="6583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4917" y="1097280"/>
            <a:ext cx="384048" cy="384048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917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9509" y="1490472"/>
            <a:ext cx="54864" cy="795528"/>
          </a:xfrm>
          <a:prstGeom prst="rect">
            <a:avLst/>
          </a:prstGeom>
          <a:solidFill>
            <a:srgbClr val="D0D5E8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5269" y="111556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Budget Sweep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05269" y="138988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× 8 Nₓ levels × 10 seeds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400 runs. Record ⟨f,c⟩ at each level.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4917" y="2286000"/>
            <a:ext cx="384048" cy="384048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917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9509" y="2679192"/>
            <a:ext cx="54864" cy="795528"/>
          </a:xfrm>
          <a:prstGeom prst="rect">
            <a:avLst/>
          </a:prstGeom>
          <a:solidFill>
            <a:srgbClr val="D0D5E8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5269" y="23042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Capacity Sweep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5269" y="257860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 × 8 Nₘ levels × 10 seeds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400 runs. Nₓ fixed at full (50k).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917" y="3474720"/>
            <a:ext cx="384048" cy="384048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917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5269" y="349300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for N*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5269" y="376732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binary search per task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critical budget within ±10% precision.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594360"/>
            <a:ext cx="4251960" cy="4160520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68580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We Measure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73168" y="1115568"/>
            <a:ext cx="621792" cy="6217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1155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11338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Truth-value error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120" y="138988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√[(f−f*)²+(c−c*)²] — Euclidean distance from ground-truth belief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2011680"/>
            <a:ext cx="621792" cy="62179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0116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32120" y="20299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retention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32120" y="228600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c* — fraction of ideal confidence recovered at a given budget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2907792"/>
            <a:ext cx="621792" cy="6217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907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N*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budget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32120" y="318211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Nₓ (or Nₘ) at which c ≥ τ = 0.5 (non-trivial revision)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3803904"/>
            <a:ext cx="621792" cy="62179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8039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3822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pattern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32120" y="40782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(anytime) vs. cliff-edge (non-monotonic collapse)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Engineering — How We Wrote the NARS Benchmarks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339328" cy="56692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94360"/>
            <a:ext cx="109728" cy="56692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8368"/>
            <a:ext cx="8183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is a hand-crafted .nal file — a sequence of Narsese sentences fed to OpenNARS. The system returns a belief ⟨f, c⟩ which we compare against a ground-truth derived from NAL revision semantics.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1408176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Chain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" y="1645920"/>
            <a:ext cx="914400" cy="1828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1645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0" y="1362456"/>
            <a:ext cx="4206240" cy="493776"/>
          </a:xfrm>
          <a:prstGeom prst="rect">
            <a:avLst/>
          </a:prstGeom>
          <a:solidFill>
            <a:srgbClr val="1A1B4B"/>
          </a:solidFill>
          <a:ln w="6350">
            <a:solidFill>
              <a:srgbClr val="2A2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8988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--&gt; B&gt;. &lt;B --&gt; C&gt;. &lt;C --&gt; D&gt;. ?- &lt;A --&gt; D&gt;.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07808" y="148132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(1.00, 0.73)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084832"/>
            <a:ext cx="384048" cy="3840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2048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Generalisation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" y="2322576"/>
            <a:ext cx="914400" cy="1828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322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91840" y="2039112"/>
            <a:ext cx="4206240" cy="493776"/>
          </a:xfrm>
          <a:prstGeom prst="rect">
            <a:avLst/>
          </a:prstGeom>
          <a:solidFill>
            <a:srgbClr val="1A1B4B"/>
          </a:solidFill>
          <a:ln w="6350">
            <a:solidFill>
              <a:srgbClr val="2A2B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06654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&lt;robin --&gt; bird&gt;. &lt;eagle --&gt; bird&gt;. ?- &lt;[canFly] --&gt; bird&gt;.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607808" y="215798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(0.82, 0.61)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2761488"/>
            <a:ext cx="384048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Revision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59536" y="2999232"/>
            <a:ext cx="914400" cy="182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29992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91840" y="2715768"/>
            <a:ext cx="4206240" cy="493776"/>
          </a:xfrm>
          <a:prstGeom prst="rect">
            <a:avLst/>
          </a:prstGeom>
          <a:solidFill>
            <a:srgbClr val="1A1B4B"/>
          </a:solidFill>
          <a:ln w="6350">
            <a:solidFill>
              <a:srgbClr val="2A2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7432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&lt;X --&gt; Y&gt;. %0.9;0.9%  &lt;X --&gt; Y&gt;. %0.1;0.9%  ?- &lt;X --&gt; Y&gt;.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07808" y="2834640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(0.52, 0.63)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3438144"/>
            <a:ext cx="38404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" y="3401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Abductive Hypothesis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9536" y="3675888"/>
            <a:ext cx="914400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" y="3675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91840" y="3392424"/>
            <a:ext cx="4206240" cy="493776"/>
          </a:xfrm>
          <a:prstGeom prst="rect">
            <a:avLst/>
          </a:prstGeom>
          <a:solidFill>
            <a:srgbClr val="1A1B4B"/>
          </a:solidFill>
          <a:ln w="6350">
            <a:solidFill>
              <a:srgbClr val="2A2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4198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&lt;rain --&gt; wetGrass&gt;. &lt;wetGrass --&gt; observed&gt;. ?- &lt;rain --&gt; observed&gt;.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07808" y="351129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(0.72, 0.58)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4114800"/>
            <a:ext cx="384048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9536" y="4078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Compound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9536" y="4352544"/>
            <a:ext cx="914400" cy="1828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" y="4352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91840" y="4069080"/>
            <a:ext cx="4206240" cy="493776"/>
          </a:xfrm>
          <a:prstGeom prst="rect">
            <a:avLst/>
          </a:prstGeom>
          <a:solidFill>
            <a:srgbClr val="1A1B4B"/>
          </a:solidFill>
          <a:ln w="6350">
            <a:solidFill>
              <a:srgbClr val="2A2B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409651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--&gt; B&gt;. &lt;B --&gt; C&gt;. &lt;A --&gt; C&gt;. %0.7%  ?- &lt;A --&gt; D&gt;.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07808" y="418795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(0.68, 0.54)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85800"/>
            <a:ext cx="1828800" cy="42062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Shuvam Agarwal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Statistics &amp; Visualisation</a:t>
            </a:r>
            <a:endParaRPr lang="en-US" sz="14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5486400" cy="36576"/>
          </a:xfrm>
          <a:prstGeom prst="rect">
            <a:avLst/>
          </a:prstGeom>
          <a:solidFill>
            <a:srgbClr val="2A2B6A"/>
          </a:solidFill>
          <a:ln w="12700">
            <a:solidFill>
              <a:srgbClr val="2A2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covers: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013" y="3246120"/>
            <a:ext cx="73152" cy="2926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18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benchmark tasks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013" y="3685032"/>
            <a:ext cx="73152" cy="2926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truth-value decay results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9013" y="4123944"/>
            <a:ext cx="73152" cy="2926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965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memory vs. cycle analysis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Benchmark Tasks — What NARS Had to Solve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0971" y="658368"/>
            <a:ext cx="429768" cy="63343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971" y="676656"/>
            <a:ext cx="429768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93841" y="836028"/>
            <a:ext cx="2024868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Chain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4978" y="833411"/>
            <a:ext cx="950448" cy="22170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4978" y="833411"/>
            <a:ext cx="950448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47419" y="833409"/>
            <a:ext cx="1528982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(1.00, 0.73)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77570" y="815991"/>
            <a:ext cx="1446335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N*: ~374 cycles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32867" y="859536"/>
            <a:ext cx="677711" cy="22170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2867" y="859536"/>
            <a:ext cx="677711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0971" y="1490472"/>
            <a:ext cx="429768" cy="63343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971" y="1508760"/>
            <a:ext cx="429768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93841" y="1668132"/>
            <a:ext cx="2024868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Generalisation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4978" y="1665515"/>
            <a:ext cx="950448" cy="22170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4978" y="1665515"/>
            <a:ext cx="950448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47419" y="1665513"/>
            <a:ext cx="1528982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(0.82, 0.61)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77570" y="1648095"/>
            <a:ext cx="1446335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N*: ~952 cycles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32867" y="1691640"/>
            <a:ext cx="677711" cy="22170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2867" y="1691640"/>
            <a:ext cx="677711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0971" y="2322576"/>
            <a:ext cx="429768" cy="63343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971" y="2340864"/>
            <a:ext cx="429768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93841" y="2500236"/>
            <a:ext cx="2024868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Revision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4978" y="2497619"/>
            <a:ext cx="950448" cy="22170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4978" y="2497619"/>
            <a:ext cx="950448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47419" y="2497617"/>
            <a:ext cx="1528982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(0.52, 0.63)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7570" y="2480199"/>
            <a:ext cx="1446335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N*: ~1,623 cycles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32867" y="2523744"/>
            <a:ext cx="677711" cy="22170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2867" y="2523744"/>
            <a:ext cx="677711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0971" y="3154680"/>
            <a:ext cx="429768" cy="63343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0971" y="3172968"/>
            <a:ext cx="429768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93841" y="3332340"/>
            <a:ext cx="2024868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Abductive Hypothesis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4978" y="3329723"/>
            <a:ext cx="950448" cy="22170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4978" y="3329723"/>
            <a:ext cx="950448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47419" y="3329721"/>
            <a:ext cx="1528982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(0.72, 0.58)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77570" y="3312303"/>
            <a:ext cx="1446335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N*: ~400 cycles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32867" y="3355848"/>
            <a:ext cx="677711" cy="22170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2867" y="3355848"/>
            <a:ext cx="677711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0971" y="3986784"/>
            <a:ext cx="429768" cy="63343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0971" y="4005072"/>
            <a:ext cx="429768" cy="60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493841" y="4164444"/>
            <a:ext cx="2024868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Compound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94978" y="4161827"/>
            <a:ext cx="950448" cy="22170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4978" y="4161827"/>
            <a:ext cx="950448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47419" y="4161825"/>
            <a:ext cx="1528982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GT: (0.68, 0.54)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77570" y="4144407"/>
            <a:ext cx="1446335" cy="237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N*: ~952 cycles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32867" y="4187952"/>
            <a:ext cx="677711" cy="22170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32867" y="4187952"/>
            <a:ext cx="677711" cy="2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How Does Quality Decay with Fewer Cycles?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</a:t>
            </a:r>
            <a:endParaRPr lang="en-US" sz="900" dirty="0"/>
          </a:p>
        </p:txBody>
      </p:sp>
      <p:pic>
        <p:nvPicPr>
          <p:cNvPr id="7" name="Image 0" descr="/sessions/sleepy-youthful-clarke/mnt/final_project/figures/fig1_delta_vs_cy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28" y="833193"/>
            <a:ext cx="4490139" cy="3094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1513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 vs Nₓ (log scale). Lower = better.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50992" y="6858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50992" y="1143000"/>
            <a:ext cx="182880" cy="182880"/>
          </a:xfrm>
          <a:prstGeom prst="lin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1106424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tasks: error δ rises as Nₓ falls. No exceptions.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50992" y="1801368"/>
            <a:ext cx="182880" cy="182880"/>
          </a:xfrm>
          <a:prstGeom prst="lin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176479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 are smooth — every extra cycle helps (anytime-compatible).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50992" y="2459736"/>
            <a:ext cx="182880" cy="182880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242316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&amp; T5 spike sharply below a cliff budget.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50992" y="3118104"/>
            <a:ext cx="182880" cy="182880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3081528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 degrades faster than frequency f.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25312" y="4151376"/>
            <a:ext cx="2400082" cy="531460"/>
          </a:xfrm>
          <a:prstGeom prst="rect">
            <a:avLst/>
          </a:prstGeom>
          <a:solidFill>
            <a:srgbClr val="EEF2FF"/>
          </a:solidFill>
          <a:ln w="6350">
            <a:solidFill>
              <a:srgbClr val="B8C4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419709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√[(f−f*)²+(c−c*)²]  </a:t>
            </a: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c/c*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Where Does Each Task Break Down?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</a:t>
            </a:r>
            <a:endParaRPr lang="en-US" sz="900" dirty="0"/>
          </a:p>
        </p:txBody>
      </p:sp>
      <p:pic>
        <p:nvPicPr>
          <p:cNvPr id="7" name="Image 0" descr="/sessions/sleepy-youthful-clarke/mnt/final_project/figures/fig3_rho_heatmap_cycles.png"/>
          <p:cNvPicPr>
            <a:picLocks noChangeAspect="1"/>
          </p:cNvPicPr>
          <p:nvPr/>
        </p:nvPicPr>
        <p:blipFill>
          <a:blip r:embed="rId3"/>
          <a:srcRect l="1783" t="3909" r="5918" b="4023"/>
          <a:stretch>
            <a:fillRect/>
          </a:stretch>
        </p:blipFill>
        <p:spPr>
          <a:xfrm>
            <a:off x="747116" y="782782"/>
            <a:ext cx="7517120" cy="28486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931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retention ρ = c/c* per task × cycle budget. Green = retained, red = collapsed.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8144" y="4224528"/>
            <a:ext cx="2269375" cy="416745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05939" y="41968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safe from Nₓ = 500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82112" y="4224528"/>
            <a:ext cx="27432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82112" y="42245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needs Nₓ ≥ 5,000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89904" y="4224528"/>
            <a:ext cx="242371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9903" y="4224528"/>
            <a:ext cx="2472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&amp; T5 red until full budget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Does Cutting Memory Hurt the Same Way as Cutting Cycles?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sweep (δ vs Nₓ)</a:t>
            </a:r>
            <a:endParaRPr lang="en-US" sz="1000" dirty="0"/>
          </a:p>
        </p:txBody>
      </p:sp>
      <p:pic>
        <p:nvPicPr>
          <p:cNvPr id="8" name="Image 0" descr="/sessions/sleepy-youthful-clarke/mnt/final_project/figures/fig1_delta_vs_cy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059936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658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sweep (δ vs Nₘ)</a:t>
            </a:r>
            <a:endParaRPr lang="en-US" sz="1000" dirty="0"/>
          </a:p>
        </p:txBody>
      </p:sp>
      <p:pic>
        <p:nvPicPr>
          <p:cNvPr id="11" name="Image 1" descr="/sessions/sleepy-youthful-clarke/mnt/final_project/figures/fig4_delta_vs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914400"/>
            <a:ext cx="4059936" cy="2651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93864" y="3721332"/>
            <a:ext cx="3613544" cy="804672"/>
          </a:xfrm>
          <a:prstGeom prst="rect">
            <a:avLst/>
          </a:prstGeom>
          <a:solidFill>
            <a:srgbClr val="F0FFF4"/>
          </a:solidFill>
          <a:ln w="10160">
            <a:solidFill>
              <a:srgbClr val="2DC653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93864" y="3721332"/>
            <a:ext cx="91440" cy="8046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95032" y="3794484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T1–T3: Cycles and memory hurt equally.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p &gt; 0.3 — no significant difference.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998726" y="3705495"/>
            <a:ext cx="3291839" cy="804672"/>
          </a:xfrm>
          <a:prstGeom prst="rect">
            <a:avLst/>
          </a:prstGeom>
          <a:solidFill>
            <a:srgbClr val="FFF5F5"/>
          </a:solidFill>
          <a:ln w="10160">
            <a:solidFill>
              <a:srgbClr val="E74C3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998727" y="3705495"/>
            <a:ext cx="9144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08453" y="3778647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T4–T5: Memory is the tighter bottleneck.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patterns are sharper in the memory sweep.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— Are the Differences Real?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4627" y="594360"/>
            <a:ext cx="7830591" cy="777240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4628" y="594360"/>
            <a:ext cx="99966" cy="7772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0659" y="667512"/>
            <a:ext cx="7455723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Signed-Rank Test (α = 0.05) between adjacent budget levels. Chosen for robustness to non-normal distributions from stochastic NARS bag sampling.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06741"/>
              </p:ext>
            </p:extLst>
          </p:nvPr>
        </p:nvGraphicFramePr>
        <p:xfrm>
          <a:off x="732200" y="1537026"/>
          <a:ext cx="7315200" cy="2306784"/>
        </p:xfrm>
        <a:graphic>
          <a:graphicData uri="http://schemas.openxmlformats.org/drawingml/2006/table">
            <a:tbl>
              <a:tblPr/>
              <a:tblGrid>
                <a:gridCol w="1827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1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 Pairs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Deductive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adjacent level significantly differs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Inductive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adjacent level significantly differs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Revision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adjacent level significantly differs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Abductive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large-step transitions are significant (cliff)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Multi-hop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 transitions are highly significant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9230" y="4143897"/>
            <a:ext cx="7315200" cy="4754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6390" y="4189617"/>
            <a:ext cx="7081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effects are statistically confirmed. Results are not noise — every cycle and memory level change matters.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10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85800" y="685800"/>
            <a:ext cx="1828800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858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Soundarya Dash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&amp; Write-up</a:t>
            </a:r>
            <a:endParaRPr lang="en-US" sz="14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5486400" cy="36576"/>
          </a:xfrm>
          <a:prstGeom prst="rect">
            <a:avLst/>
          </a:prstGeom>
          <a:solidFill>
            <a:srgbClr val="2A2B6A"/>
          </a:solidFill>
          <a:ln w="12700">
            <a:solidFill>
              <a:srgbClr val="2A2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covers: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0308" y="3246120"/>
            <a:ext cx="73152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18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critical budgets N*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0308" y="3685032"/>
            <a:ext cx="73152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anytime property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0308" y="4123944"/>
            <a:ext cx="73152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0965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cost savings &amp; conclusions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The Minimum Budget for Reliable Inference (N*)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pic>
        <p:nvPicPr>
          <p:cNvPr id="7" name="Image 0" descr="/sessions/sleepy-youthful-clarke/mnt/final_project/figures/fig7_critical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58368"/>
            <a:ext cx="4882896" cy="33101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873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7: Critical budget per task — cycle (solid) and memory (hatched). Log scale.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50992" y="685800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at N*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50992" y="987552"/>
            <a:ext cx="3054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full budget of 50,000 cycles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0" y="1298448"/>
            <a:ext cx="3383280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1298448"/>
            <a:ext cx="7315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14416" y="13441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Deductive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614416" y="154533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374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223760" y="133502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99.3%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0" y="1828800"/>
            <a:ext cx="3383280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1828800"/>
            <a:ext cx="73152" cy="4572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14416" y="18745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Inductive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14416" y="20756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952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223760" y="18653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98.1%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0" y="2359152"/>
            <a:ext cx="3383280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0" y="2359152"/>
            <a:ext cx="73152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4416" y="24048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Revision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14416" y="26060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1,623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223760" y="23957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96.8%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5486400" y="2889504"/>
            <a:ext cx="3383280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2889504"/>
            <a:ext cx="7315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14416" y="293522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Abductive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14416" y="31363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400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223760" y="29260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99.2%*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486400" y="3419856"/>
            <a:ext cx="3383280" cy="457200"/>
          </a:xfrm>
          <a:prstGeom prst="rect">
            <a:avLst/>
          </a:prstGeom>
          <a:solidFill>
            <a:srgbClr val="F8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0" y="3419856"/>
            <a:ext cx="73152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14416" y="346557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Multi-hop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14416" y="366674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= 952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223760" y="345643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98.1%*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5486400" y="41148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Cliff-edge: savings exist but risky below N*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Is NARS an Anytime Algorithm?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7" name="Image 0" descr="/sessions/sleepy-youthful-clarke/mnt/final_project/figures/fig8_anytime_prop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658368"/>
            <a:ext cx="8375904" cy="3182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931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8: Confidence vs Nₓ for T1 (smooth) and T5 (cliff-edge). Shaded = ±1 SD. Red dashed = τ = 0.5.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22859" y="4178532"/>
            <a:ext cx="3813048" cy="594360"/>
          </a:xfrm>
          <a:prstGeom prst="rect">
            <a:avLst/>
          </a:prstGeom>
          <a:solidFill>
            <a:srgbClr val="F0FFF4"/>
          </a:solidFill>
          <a:ln w="10160">
            <a:solidFill>
              <a:srgbClr val="2DC653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09" y="4181025"/>
            <a:ext cx="109728" cy="59436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1459" y="4242540"/>
            <a:ext cx="328629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T1–T3 are ANYTIME — every added cycle monotonically improves confidence.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15394" y="4180263"/>
            <a:ext cx="3640628" cy="594360"/>
          </a:xfrm>
          <a:prstGeom prst="rect">
            <a:avLst/>
          </a:prstGeom>
          <a:solidFill>
            <a:srgbClr val="FFF5F5"/>
          </a:solidFill>
          <a:ln w="10160">
            <a:solidFill>
              <a:srgbClr val="E74C3C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15394" y="4180263"/>
            <a:ext cx="94973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3994" y="4244271"/>
            <a:ext cx="338736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T4–T5 are NON-ANYTIME — confidence collapses near zero below the critical cliff.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2665"/>
          </a:solidFill>
          <a:ln w="12700">
            <a:solidFill>
              <a:srgbClr val="2526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&amp; Cost Improvement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7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99.3%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Deductive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64408" y="6583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6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4408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Revision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17336" y="6583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~134x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17336" y="12984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Cycles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Full Budget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048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study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109728" cy="109728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the cycle budget — over- or under-provisioning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52344"/>
            <a:ext cx="109728" cy="109728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distinguish safe cuts from catastrophic cliff drops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72384"/>
            <a:ext cx="109728" cy="109728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per-task floor — one wrong setting fails the whole deployment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62272" y="2057400"/>
            <a:ext cx="36576" cy="1508760"/>
          </a:xfrm>
          <a:prstGeom prst="rect">
            <a:avLst/>
          </a:prstGeom>
          <a:solidFill>
            <a:srgbClr val="3A3B7A"/>
          </a:solidFill>
          <a:ln w="12700">
            <a:solidFill>
              <a:srgbClr val="3A3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048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study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5152" y="2432304"/>
            <a:ext cx="109728" cy="109728"/>
          </a:xfrm>
          <a:prstGeom prst="lin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N* thresholds — exact minimum viable budget is known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2752344"/>
            <a:ext cx="109728" cy="109728"/>
          </a:xfrm>
          <a:prstGeom prst="lin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tasks: run at 1% of full budget with zero cliff risk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5152" y="3072384"/>
            <a:ext cx="109728" cy="109728"/>
          </a:xfrm>
          <a:prstGeom prst="lin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035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tasks flagged — operators know exactly where the danger zone 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9719" y="3749040"/>
            <a:ext cx="7188926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16879" y="380390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Right-sizing NARS for deductive tasks: 50,000 → 374 cycles. 99% compute cost reduction with full reliability.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All Four Questions Answered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41148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822960"/>
            <a:ext cx="594360" cy="31089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2296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82296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Truth-Value Decay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1252728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 and c degrade as Nₓ falls. Confidence is more sensitive. Effect is universal.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658368"/>
            <a:ext cx="41148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2312" y="822960"/>
            <a:ext cx="594360" cy="31089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82296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82296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vs. Cycles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2312" y="1252728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for T1–T3. For T4–T5, memory is the tighter bottleneck — buy memory, not compute.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07208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2971800"/>
            <a:ext cx="59436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7180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297180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Budget N*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401568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 cycles (T1) to 1,623 cycles (T3). Proven minimum budgets for reliable deployment.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807208"/>
            <a:ext cx="41148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2312" y="2971800"/>
            <a:ext cx="594360" cy="310896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97180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297180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Property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82312" y="3401568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 satisfy the anytime property. T4–T5 are cliff-edge: non-anytime, require budget guarantees.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Live OpenNARS 3.1.x Engine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NAL engine ported from OpenNARS 3.1.x source · 364 runs across 5 tasks × 8 Nc levels × 10 seeds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014984"/>
            <a:ext cx="347472" cy="347472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0149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Agreement — 3 / 5 tasks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275588"/>
            <a:ext cx="37673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(Deductive), T2 (Inductive), T3 (Revision): SMOOTH profile confirmed in both simulator and engine. Classification holds.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4114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1014984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014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9512" y="10149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N* Discrepancy — 25–100× lower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82312" y="1220724"/>
            <a:ext cx="37673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reaches c ≥ 0.5 in just 10–15 cycles vs. 374–1,623 cycles in the simulator. Input beliefs (c = 0.90) drive rapid derivation.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1148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3118104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96112" y="31181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Tasks Diverge (T4, T5)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3291840"/>
            <a:ext cx="37673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predicts CLIFF; engine shows SMOOTH. At high Nc, competing abductive evidence collapses frequency to f = 0.04–0.09 — a real NAL behaviour not captured by the calibrated model.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2971800"/>
            <a:ext cx="41148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82312" y="3118104"/>
            <a:ext cx="347472" cy="347472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9512" y="31181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δ Trends (Pearson r ≈ −0.71)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82312" y="3242637"/>
            <a:ext cx="37673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correlation: when the simulator expects high error at low Nc, the engine achieves low error. Reveals a fundamental architectural gap.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A1B4B"/>
          </a:solidFill>
          <a:ln w="12700">
            <a:solidFill>
              <a:srgbClr val="1A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73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416052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85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143000"/>
            <a:ext cx="73152" cy="7863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6128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simulator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based on a calibrated NARS simulator, not a live OpenNARS JVM. Absolute N* values may shift slightly on real runtimes and need empirical re-validation.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73152" cy="7863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2257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tasks only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578608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benchmark covers five inference types. Broader conclusions about NARS in general require a wider task library including temporal and multi-agent reasoning.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465576"/>
            <a:ext cx="73152" cy="7863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8386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resource budgets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739896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use fixed Nc / Nm per run. Real deployments may have dynamic, fluctuating budgets — the degradation response to budget variance is unstudied.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594360"/>
            <a:ext cx="416052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68580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18888" y="1143000"/>
            <a:ext cx="73152" cy="78638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6128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budget control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1417320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N* and validation data to build a runtime monitor: detect task type from query structure, then dynamically allocate the minimum viable budget, auto-flagging cliff-zone queries.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18888" y="2304288"/>
            <a:ext cx="73152" cy="78638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2257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Competing-evidence modelling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2578608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engine revealed frequency collapse under heavy abductive load — future work should model this competing-evidence dynamic and expose it as a third degradation mode.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18888" y="3465576"/>
            <a:ext cx="73152" cy="786384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48386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task diversity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3739896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NAL 7–9 (temporal reasoning, procedural goals) and multi-agent NARS. Investigate whether cliff-edge behaviour is structural or inference-mode-specific.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C8D0E0"/>
          </a:solidFill>
          <a:ln w="12700">
            <a:solidFill>
              <a:srgbClr val="C8D0E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215" y="514241"/>
            <a:ext cx="847779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10622" y="1863636"/>
            <a:ext cx="73152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10512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empirical map: NARS resource budget → truth-value quality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0622" y="2247684"/>
            <a:ext cx="73152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9456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N* thresholds — provable minimum deployment budgets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0622" y="2631732"/>
            <a:ext cx="73152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578608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96–99% compute savings safe for smooth-profile tasks (T1–T3)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0622" y="3015780"/>
            <a:ext cx="73152" cy="274320"/>
          </a:xfrm>
          <a:prstGeom prst="rect">
            <a:avLst/>
          </a:prstGeom>
          <a:solidFill>
            <a:srgbClr val="0070C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6265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Cliff-edge tasks (T4–T5) require hard budget floors — not anytime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657600"/>
            <a:ext cx="2432304" cy="914400"/>
          </a:xfrm>
          <a:prstGeom prst="rect">
            <a:avLst/>
          </a:prstGeom>
          <a:solidFill>
            <a:srgbClr val="252665"/>
          </a:solidFill>
          <a:ln w="15240">
            <a:solidFill>
              <a:srgbClr val="0077B6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148" y="37307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Arbaz Anis Ahmed Khan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148" y="407822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NARS config &amp; experiments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3657600"/>
            <a:ext cx="2633472" cy="914400"/>
          </a:xfrm>
          <a:prstGeom prst="rect">
            <a:avLst/>
          </a:prstGeom>
          <a:solidFill>
            <a:srgbClr val="252665"/>
          </a:solidFill>
          <a:ln w="15240">
            <a:solidFill>
              <a:srgbClr val="6C63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64992" y="37307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Shuvam Agarwal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64992" y="407822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statistics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55068" y="3657600"/>
            <a:ext cx="2450592" cy="914400"/>
          </a:xfrm>
          <a:prstGeom prst="rect">
            <a:avLst/>
          </a:prstGeom>
          <a:solidFill>
            <a:srgbClr val="252665"/>
          </a:solidFill>
          <a:ln w="1524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0714" y="373075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Soundarya Dash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50714" y="407822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&amp; write-up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593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422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0799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6632" y="4919472"/>
            <a:ext cx="128016" cy="128016"/>
          </a:xfrm>
          <a:prstGeom prst="lin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167</TotalTime>
  <Words>2013</Words>
  <Application>Microsoft Office PowerPoint</Application>
  <PresentationFormat>On-screen Show (16:9)</PresentationFormat>
  <Paragraphs>325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 of Thinking — NARS 5-Min Presentation</dc:title>
  <dc:subject>PptxGenJS Presentation</dc:subject>
  <dc:creator>PptxGenJS</dc:creator>
  <cp:lastModifiedBy>Soundarya Dash</cp:lastModifiedBy>
  <cp:revision>7</cp:revision>
  <dcterms:created xsi:type="dcterms:W3CDTF">2026-04-12T18:30:34Z</dcterms:created>
  <dcterms:modified xsi:type="dcterms:W3CDTF">2026-05-03T22:54:13Z</dcterms:modified>
</cp:coreProperties>
</file>